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</p:sldMasterIdLst>
  <p:notesMasterIdLst>
    <p:notesMasterId r:id="rId20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13"/>
    <p:sldId id="263" r:id="rId12"/>
    <p:sldId id="264" r:id="rId11"/>
    <p:sldId id="265" r:id="rId10"/>
    <p:sldId id="266" r:id="rId9"/>
    <p:sldId id="267" r:id="rId8"/>
    <p:sldId id="268" r:id="rId7"/>
    <p:sldId id="269" r:id="rId6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A4653-5915-48A9-8C31-F9F11621CCE5}" v="4" dt="2026-01-29T17:00:18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31" d="100"/>
          <a:sy n="131" d="100"/>
        </p:scale>
        <p:origin x="-816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8.xml"/><Relationship Id="rId13" Type="http://schemas.openxmlformats.org/officeDocument/2006/relationships/slide" Target="slides/slide7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artin (CA)" userId="9f06d854-bc37-48ca-b3de-ffb36b6be838" providerId="ADAL" clId="{3BD7593C-C5FD-4082-9172-4D206CECEFC1}"/>
    <pc:docChg chg="custSel addSld delSld modSld sldOrd">
      <pc:chgData name="David Martin (CA)" userId="9f06d854-bc37-48ca-b3de-ffb36b6be838" providerId="ADAL" clId="{3BD7593C-C5FD-4082-9172-4D206CECEFC1}" dt="2026-01-29T17:00:24.336" v="154" actId="47"/>
      <pc:docMkLst>
        <pc:docMk/>
      </pc:docMkLst>
      <pc:sldChg chg="addSp delSp modSp add mod ord modClrScheme chgLayout">
        <pc:chgData name="David Martin (CA)" userId="9f06d854-bc37-48ca-b3de-ffb36b6be838" providerId="ADAL" clId="{3BD7593C-C5FD-4082-9172-4D206CECEFC1}" dt="2026-01-29T16:44:50.263" v="148" actId="20577"/>
        <pc:sldMkLst>
          <pc:docMk/>
          <pc:sldMk cId="0" sldId="256"/>
        </pc:sldMkLst>
        <pc:spChg chg="mod">
          <ac:chgData name="David Martin (CA)" userId="9f06d854-bc37-48ca-b3de-ffb36b6be838" providerId="ADAL" clId="{3BD7593C-C5FD-4082-9172-4D206CECEFC1}" dt="2026-01-29T14:58:08.780" v="119" actId="403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David Martin (CA)" userId="9f06d854-bc37-48ca-b3de-ffb36b6be838" providerId="ADAL" clId="{3BD7593C-C5FD-4082-9172-4D206CECEFC1}" dt="2026-01-29T16:44:50.263" v="148" actId="20577"/>
          <ac:spMkLst>
            <pc:docMk/>
            <pc:sldMk cId="0" sldId="256"/>
            <ac:spMk id="4" creationId="{00000000-0000-0000-0000-000000000000}"/>
          </ac:spMkLst>
        </pc:spChg>
        <pc:spChg chg="mod ord">
          <ac:chgData name="David Martin (CA)" userId="9f06d854-bc37-48ca-b3de-ffb36b6be838" providerId="ADAL" clId="{3BD7593C-C5FD-4082-9172-4D206CECEFC1}" dt="2026-01-29T16:40:18.481" v="131" actId="1076"/>
          <ac:spMkLst>
            <pc:docMk/>
            <pc:sldMk cId="0" sldId="256"/>
            <ac:spMk id="5" creationId="{00000000-0000-0000-0000-000000000000}"/>
          </ac:spMkLst>
        </pc:spChg>
        <pc:spChg chg="del mod ord">
          <ac:chgData name="David Martin (CA)" userId="9f06d854-bc37-48ca-b3de-ffb36b6be838" providerId="ADAL" clId="{3BD7593C-C5FD-4082-9172-4D206CECEFC1}" dt="2026-01-29T16:39:52.579" v="123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vid Martin (CA)" userId="9f06d854-bc37-48ca-b3de-ffb36b6be838" providerId="ADAL" clId="{3BD7593C-C5FD-4082-9172-4D206CECEFC1}" dt="2026-01-29T16:40:22.785" v="132" actId="14100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David Martin (CA)" userId="9f06d854-bc37-48ca-b3de-ffb36b6be838" providerId="ADAL" clId="{3BD7593C-C5FD-4082-9172-4D206CECEFC1}" dt="2026-01-29T14:55:28.422" v="47" actId="26606"/>
          <ac:spMkLst>
            <pc:docMk/>
            <pc:sldMk cId="0" sldId="256"/>
            <ac:spMk id="12" creationId="{39338E94-2407-FF37-CE56-42E8C9128B18}"/>
          </ac:spMkLst>
        </pc:spChg>
        <pc:spChg chg="add mod">
          <ac:chgData name="David Martin (CA)" userId="9f06d854-bc37-48ca-b3de-ffb36b6be838" providerId="ADAL" clId="{3BD7593C-C5FD-4082-9172-4D206CECEFC1}" dt="2026-01-29T14:55:28.422" v="47" actId="26606"/>
          <ac:spMkLst>
            <pc:docMk/>
            <pc:sldMk cId="0" sldId="256"/>
            <ac:spMk id="14" creationId="{58A8A4BA-A1BF-EE81-DE46-216FF71BBA8B}"/>
          </ac:spMkLst>
        </pc:spChg>
      </pc:sldChg>
      <pc:sldChg chg="new del">
        <pc:chgData name="David Martin (CA)" userId="9f06d854-bc37-48ca-b3de-ffb36b6be838" providerId="ADAL" clId="{3BD7593C-C5FD-4082-9172-4D206CECEFC1}" dt="2026-01-29T14:58:20.562" v="122" actId="47"/>
        <pc:sldMkLst>
          <pc:docMk/>
          <pc:sldMk cId="1263144790" sldId="314"/>
        </pc:sldMkLst>
      </pc:sldChg>
      <pc:sldChg chg="addSp delSp modSp new del mod modClrScheme chgLayout">
        <pc:chgData name="David Martin (CA)" userId="9f06d854-bc37-48ca-b3de-ffb36b6be838" providerId="ADAL" clId="{3BD7593C-C5FD-4082-9172-4D206CECEFC1}" dt="2026-01-29T17:00:24.336" v="154" actId="47"/>
        <pc:sldMkLst>
          <pc:docMk/>
          <pc:sldMk cId="1713470026" sldId="314"/>
        </pc:sldMkLst>
        <pc:spChg chg="del 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2" creationId="{A6B1DC3E-ACCE-E58B-8BA7-CAD03FA44BE3}"/>
          </ac:spMkLst>
        </pc:spChg>
        <pc:spChg chg="del 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3" creationId="{5BEA8745-B986-3CBF-7130-31B6F5F4DE58}"/>
          </ac:spMkLst>
        </pc:spChg>
        <pc:spChg chg="del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4" creationId="{7A5BF2A3-53C2-187C-A59F-408F71F9840C}"/>
          </ac:spMkLst>
        </pc:spChg>
        <pc:spChg chg="del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5" creationId="{1BCFC7BF-B329-6B2F-F336-F0BE522EE528}"/>
          </ac:spMkLst>
        </pc:spChg>
        <pc:spChg chg="del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6" creationId="{E7DEC170-5E3F-6AE5-3CE4-668CF0C6A809}"/>
          </ac:spMkLst>
        </pc:spChg>
        <pc:spChg chg="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7" creationId="{9C09F2B2-F5D3-9C35-436B-C9FB9CFF23BF}"/>
          </ac:spMkLst>
        </pc:spChg>
        <pc:spChg chg="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8" creationId="{E3ED2C6F-83CA-2765-0EF6-A88523423057}"/>
          </ac:spMkLst>
        </pc:spChg>
        <pc:spChg chg="add 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9" creationId="{810A0D8B-3B0F-F9F3-D70B-71E9DD8A07D3}"/>
          </ac:spMkLst>
        </pc:spChg>
        <pc:spChg chg="add del mod ord">
          <ac:chgData name="David Martin (CA)" userId="9f06d854-bc37-48ca-b3de-ffb36b6be838" providerId="ADAL" clId="{3BD7593C-C5FD-4082-9172-4D206CECEFC1}" dt="2026-01-29T17:00:17.089" v="152" actId="478"/>
          <ac:spMkLst>
            <pc:docMk/>
            <pc:sldMk cId="1713470026" sldId="314"/>
            <ac:spMk id="10" creationId="{46228559-8F1F-06F1-AEBF-67A23F85D310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1" creationId="{67CB43E3-D49F-8DE3-26DD-852FE48DC5BE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2" creationId="{9F82A0C4-E953-C54A-567A-F8A77123EB02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3" creationId="{88440D00-8D25-2E05-23A9-46878C5D9F1F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4" creationId="{07FE7910-45CA-2109-F207-EFB9EBF5047D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5" creationId="{B820A2FF-4938-CE52-9238-859A3F8A4193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6" creationId="{A2F854F0-B78B-5C93-6572-DC13E6F9EC5E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7" creationId="{EFF59CFD-071B-7F8C-A85C-AB14745A9EFE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8" creationId="{09991B45-5354-2E80-D92B-57134DFB285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85099-F021-4B21-B034-E6863BE2725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30578-47C6-46D3-93D2-CD8E658F3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3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7" y="1716"/>
            <a:ext cx="9141713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6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7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7" y="1716"/>
            <a:ext cx="9141713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68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41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64" y="4007973"/>
            <a:ext cx="3503799" cy="129844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221" y="402655"/>
            <a:ext cx="4230886" cy="3521964"/>
          </a:xfrm>
        </p:spPr>
        <p:txBody>
          <a:bodyPr/>
          <a:lstStyle>
            <a:lvl1pPr>
              <a:lnSpc>
                <a:spcPct val="125000"/>
              </a:lnSpc>
              <a:defRPr sz="1125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5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435" y="400050"/>
            <a:ext cx="4232672" cy="2970214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360104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953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435" y="400051"/>
            <a:ext cx="4232672" cy="3998913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360104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9332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435" y="400050"/>
            <a:ext cx="4232672" cy="5653088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360104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502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298" y="400050"/>
            <a:ext cx="4951810" cy="5653088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288071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044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29" y="3459959"/>
            <a:ext cx="423438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45368" y="572408"/>
            <a:ext cx="2596571" cy="3231654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6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34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29" y="3459959"/>
            <a:ext cx="423438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45368" y="576072"/>
            <a:ext cx="2596571" cy="3231654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6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7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9141713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23" y="3372236"/>
            <a:ext cx="4230887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45368" y="576072"/>
            <a:ext cx="2596571" cy="3231654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6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824" y="5029716"/>
            <a:ext cx="4230887" cy="990083"/>
          </a:xfrm>
        </p:spPr>
        <p:txBody>
          <a:bodyPr/>
          <a:lstStyle>
            <a:lvl1pPr>
              <a:defRPr sz="975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046" y="6501385"/>
            <a:ext cx="274320" cy="161583"/>
          </a:xfrm>
        </p:spPr>
        <p:txBody>
          <a:bodyPr>
            <a:noAutofit/>
          </a:bodyPr>
          <a:lstStyle>
            <a:lvl1pPr>
              <a:defRPr sz="788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52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64849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7900" y="919163"/>
            <a:ext cx="2784661" cy="1938337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900" y="2971800"/>
            <a:ext cx="2793206" cy="2967038"/>
          </a:xfrm>
        </p:spPr>
        <p:txBody>
          <a:bodyPr/>
          <a:lstStyle>
            <a:lvl1pPr>
              <a:lnSpc>
                <a:spcPct val="125000"/>
              </a:lnSpc>
              <a:defRPr sz="1200" b="0">
                <a:latin typeface="+mj-lt"/>
              </a:defRPr>
            </a:lvl1pPr>
            <a:lvl2pPr marL="125016" indent="0">
              <a:defRPr/>
            </a:lvl2pPr>
            <a:lvl3pPr marL="259556" indent="0">
              <a:buNone/>
              <a:defRPr/>
            </a:lvl3pPr>
            <a:lvl4pPr marL="384572" indent="0">
              <a:buNone/>
              <a:defRPr/>
            </a:lvl4pPr>
            <a:lvl5pPr marL="5191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5722920" y="6501385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899" y="6541716"/>
            <a:ext cx="240030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9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6553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763" y="919163"/>
            <a:ext cx="3503798" cy="1938337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8764" y="2971800"/>
            <a:ext cx="3503797" cy="2967038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5338764" y="6501385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77200" y="6541716"/>
            <a:ext cx="274320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08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236336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16" y="400051"/>
            <a:ext cx="4224126" cy="9175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116" y="1946276"/>
            <a:ext cx="4224125" cy="3992563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4618435" y="6501385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80087" y="6541716"/>
            <a:ext cx="349758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01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35071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98" y="400051"/>
            <a:ext cx="4951945" cy="9175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298" y="1946276"/>
            <a:ext cx="4951944" cy="3992563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4618435" y="6497442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80087" y="6537773"/>
            <a:ext cx="349758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88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40" y="400051"/>
            <a:ext cx="3205690" cy="142875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1440" y="1956004"/>
            <a:ext cx="3205690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298" y="400052"/>
            <a:ext cx="4943263" cy="5538787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11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2420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907272" y="794063"/>
            <a:ext cx="4942413" cy="3328416"/>
          </a:xfrm>
        </p:spPr>
        <p:txBody>
          <a:bodyPr tIns="457200"/>
          <a:lstStyle>
            <a:lvl1pPr algn="ctr">
              <a:defRPr sz="135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93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0727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7273" y="786384"/>
            <a:ext cx="4316015" cy="3195638"/>
          </a:xfrm>
        </p:spPr>
        <p:txBody>
          <a:bodyPr tIns="73152"/>
          <a:lstStyle>
            <a:lvl1pPr marL="485775" indent="-414338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tabLst/>
              <a:defRPr sz="2100" b="0">
                <a:latin typeface="+mj-lt"/>
              </a:defRPr>
            </a:lvl1pPr>
            <a:lvl2pPr marL="517922" indent="-4298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1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4295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0727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383276" y="818982"/>
            <a:ext cx="3243652" cy="2685354"/>
          </a:xfrm>
        </p:spPr>
        <p:txBody>
          <a:bodyPr tIns="457200"/>
          <a:lstStyle>
            <a:lvl1pPr algn="ctr">
              <a:defRPr sz="135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783299" y="818982"/>
            <a:ext cx="3243652" cy="2685354"/>
          </a:xfrm>
        </p:spPr>
        <p:txBody>
          <a:bodyPr tIns="457200"/>
          <a:lstStyle>
            <a:lvl1pPr algn="ctr">
              <a:defRPr sz="135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79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0727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61022" y="917575"/>
            <a:ext cx="3168542" cy="2589534"/>
          </a:xfrm>
        </p:spPr>
        <p:txBody>
          <a:bodyPr lIns="91440"/>
          <a:lstStyle>
            <a:lvl1pPr marL="219456" indent="-429816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tabLst/>
              <a:defRPr sz="1350" b="0">
                <a:latin typeface="+mj-lt"/>
              </a:defRPr>
            </a:lvl1pPr>
            <a:lvl2pPr marL="517922" indent="-4298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1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81294" y="917575"/>
            <a:ext cx="3168542" cy="2589534"/>
          </a:xfrm>
        </p:spPr>
        <p:txBody>
          <a:bodyPr lIns="91440"/>
          <a:lstStyle>
            <a:lvl1pPr marL="294894" indent="-507492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tabLst>
                <a:tab pos="169069" algn="r"/>
              </a:tabLst>
              <a:defRPr sz="1350" b="0">
                <a:latin typeface="+mj-lt"/>
              </a:defRPr>
            </a:lvl1pPr>
            <a:lvl2pPr marL="517922" indent="-4298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1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486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954787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249" y="1946276"/>
            <a:ext cx="4954787" cy="4000502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96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8552857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679" y="1946276"/>
            <a:ext cx="3505084" cy="3992562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4504" y="1946276"/>
            <a:ext cx="3505084" cy="3992562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628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492184"/>
            <a:ext cx="2880718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01083" y="402432"/>
            <a:ext cx="2737461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778228" y="371478"/>
            <a:ext cx="1885712" cy="248602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10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2880719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01083" y="402432"/>
            <a:ext cx="2737461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778228" y="371478"/>
            <a:ext cx="1885712" cy="248602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01083" y="2977040"/>
            <a:ext cx="2737461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78228" y="2977040"/>
            <a:ext cx="1885712" cy="248602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10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2124" y="1431439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61023" y="1421451"/>
            <a:ext cx="1885712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900"/>
              </a:spcAft>
              <a:defRPr sz="1125" b="1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2124" y="3486945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61023" y="3486944"/>
            <a:ext cx="1885712" cy="193881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0221" y="1431439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778229" y="1421451"/>
            <a:ext cx="1885712" cy="193881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20221" y="3486945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778229" y="3486944"/>
            <a:ext cx="1885712" cy="193881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36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89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1946276"/>
            <a:ext cx="2460308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975"/>
              </a:spcAft>
              <a:defRPr sz="15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70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08107" y="1439508"/>
            <a:ext cx="3927872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6504" y="2468208"/>
            <a:ext cx="2066000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786031" y="2468208"/>
            <a:ext cx="2066000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84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05752" y="1949411"/>
            <a:ext cx="2460308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3614568"/>
            <a:ext cx="2460308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750"/>
              </a:spcAft>
              <a:defRPr sz="135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57034"/>
            <a:ext cx="2460308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957034"/>
            <a:ext cx="2460308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662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05752" y="1949411"/>
            <a:ext cx="2460308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3614568"/>
            <a:ext cx="2460308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350" b="1">
                <a:latin typeface="+mn-lt"/>
              </a:defRPr>
            </a:lvl1pPr>
            <a:lvl2pPr>
              <a:spcBef>
                <a:spcPts val="450"/>
              </a:spcBef>
              <a:defRPr sz="105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57035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3375">
                <a:latin typeface="+mn-lt"/>
              </a:defRPr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65968" y="1957035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3375">
                <a:latin typeface="+mn-lt"/>
              </a:defRPr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181826" y="3727983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3375" b="0"/>
            </a:lvl1pPr>
            <a:lvl2pPr>
              <a:lnSpc>
                <a:spcPct val="100000"/>
              </a:lnSpc>
              <a:spcBef>
                <a:spcPts val="0"/>
              </a:spcBef>
              <a:defRPr sz="900"/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065968" y="3727983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3375" b="0"/>
            </a:lvl1pPr>
            <a:lvl2pPr>
              <a:lnSpc>
                <a:spcPct val="100000"/>
              </a:lnSpc>
              <a:spcBef>
                <a:spcPts val="0"/>
              </a:spcBef>
              <a:defRPr sz="900"/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993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1440338"/>
            <a:ext cx="2586038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975"/>
              </a:spcAft>
              <a:defRPr sz="15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440338"/>
            <a:ext cx="2460308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81827" y="3689589"/>
            <a:ext cx="2716054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440339"/>
            <a:ext cx="2460308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3615" y="3689589"/>
            <a:ext cx="2716054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079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4234460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0038" y="1434783"/>
            <a:ext cx="2716054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4008120"/>
            <a:ext cx="2460308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85398" y="1434783"/>
            <a:ext cx="2716054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4008120"/>
            <a:ext cx="2460308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3615" y="1434783"/>
            <a:ext cx="2716054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4008120"/>
            <a:ext cx="2460308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06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4002723"/>
            <a:ext cx="2542105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81827" y="410053"/>
            <a:ext cx="2716054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4007381"/>
            <a:ext cx="2460308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3615" y="410053"/>
            <a:ext cx="2716054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4007381"/>
            <a:ext cx="2460308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180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752" y="1946276"/>
            <a:ext cx="2068354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67366" y="1946276"/>
            <a:ext cx="2064243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24884" y="1946276"/>
            <a:ext cx="2062445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786343" y="1946276"/>
            <a:ext cx="2062445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277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3484564"/>
            <a:ext cx="2460308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3484564"/>
            <a:ext cx="2460308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3484564"/>
            <a:ext cx="2460308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74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13" y="3484564"/>
            <a:ext cx="2068354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56827" y="3484564"/>
            <a:ext cx="2064243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14345" y="3484564"/>
            <a:ext cx="2062445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786343" y="3484564"/>
            <a:ext cx="2062445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19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181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69301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36421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803540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95213" y="1428750"/>
            <a:ext cx="4234460" cy="1428750"/>
          </a:xfrm>
        </p:spPr>
        <p:txBody>
          <a:bodyPr rIns="91440"/>
          <a:lstStyle>
            <a:lvl1pPr>
              <a:defRPr sz="15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74929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3359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752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752" y="3998914"/>
            <a:ext cx="2068354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67366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67366" y="3998914"/>
            <a:ext cx="2064243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24884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24884" y="3998914"/>
            <a:ext cx="2062445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86343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786343" y="3998914"/>
            <a:ext cx="2062445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913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99612" y="1443674"/>
            <a:ext cx="1948100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5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70454" y="1443674"/>
            <a:ext cx="1948100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18436" y="1428751"/>
            <a:ext cx="422595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18435" y="4041936"/>
            <a:ext cx="2074069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35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783562" y="4041936"/>
            <a:ext cx="2074069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900" b="0">
                <a:latin typeface="+mj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70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6054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47683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186755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25827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64899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03972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1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6054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05753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744825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744825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186755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86755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625827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625827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4900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064899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503972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7503972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028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13" y="-300748"/>
            <a:ext cx="4228504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529916" y="593397"/>
            <a:ext cx="706453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45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351" y="1317530"/>
            <a:ext cx="425172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300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65372" y="4983334"/>
            <a:ext cx="352676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940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387" y="-300748"/>
            <a:ext cx="4235323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04744" y="2732673"/>
            <a:ext cx="706453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45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87" y="3485571"/>
            <a:ext cx="4123877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240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12707" y="393871"/>
            <a:ext cx="4245543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2707" y="4987818"/>
            <a:ext cx="4245543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906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387" y="-300748"/>
            <a:ext cx="4235323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04744" y="2732673"/>
            <a:ext cx="706453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45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87" y="3485571"/>
            <a:ext cx="4123877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240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4622978" y="400050"/>
            <a:ext cx="4228127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2707" y="4987818"/>
            <a:ext cx="4245543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57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26091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152" y="400052"/>
            <a:ext cx="4558514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2400" b="0" spc="-38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9398" y="4470739"/>
            <a:ext cx="3528644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046" y="6501385"/>
            <a:ext cx="274320" cy="161583"/>
          </a:xfrm>
        </p:spPr>
        <p:txBody>
          <a:bodyPr anchor="b" anchorCtr="0">
            <a:noAutofit/>
          </a:bodyPr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4526129" y="299570"/>
            <a:ext cx="5715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035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45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70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270" y="4463449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894" y="737609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248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752" y="4462273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92" y="740665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158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752" y="-300748"/>
            <a:ext cx="4230958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752" y="4462273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92" y="740665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698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747" y="-319682"/>
            <a:ext cx="4271963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752" y="4462273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92" y="740665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296047" y="6541716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788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053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963" y="3480486"/>
            <a:ext cx="3374610" cy="2458352"/>
          </a:xfrm>
        </p:spPr>
        <p:txBody>
          <a:bodyPr/>
          <a:lstStyle>
            <a:lvl1pPr>
              <a:lnSpc>
                <a:spcPct val="100000"/>
              </a:lnSpc>
              <a:defRPr sz="24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899297" y="400050"/>
            <a:ext cx="496113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699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02337"/>
            <a:ext cx="2803090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5752" y="2979421"/>
            <a:ext cx="2795588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125"/>
            </a:lvl1pPr>
            <a:lvl2pPr>
              <a:defRPr sz="9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899298" y="402336"/>
            <a:ext cx="4961128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378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2457451"/>
            <a:ext cx="2075856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5752" y="3492183"/>
            <a:ext cx="2068354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900" b="0">
                <a:latin typeface="+mj-lt"/>
              </a:defRPr>
            </a:lvl1pPr>
            <a:lvl2pPr>
              <a:defRPr sz="9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2466353" y="400050"/>
            <a:ext cx="6385136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2028377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612707" y="918221"/>
            <a:ext cx="4245542" cy="1384995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707" y="2433638"/>
            <a:ext cx="4245543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495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475" y="4513994"/>
            <a:ext cx="3513288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449848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475" y="4513994"/>
            <a:ext cx="3513288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612707" y="918221"/>
            <a:ext cx="4238399" cy="1384995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707" y="2433638"/>
            <a:ext cx="4245543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495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510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402337"/>
            <a:ext cx="351651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05752" y="3492184"/>
            <a:ext cx="2789873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99984" y="1424941"/>
            <a:ext cx="1353054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45879" y="1446214"/>
            <a:ext cx="2783709" cy="14112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99984" y="2981643"/>
            <a:ext cx="1353054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45879" y="2979421"/>
            <a:ext cx="2783709" cy="14112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99984" y="4521518"/>
            <a:ext cx="1353054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45879" y="4519932"/>
            <a:ext cx="2783709" cy="14112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050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444093"/>
            <a:ext cx="3516512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4150" y="880660"/>
            <a:ext cx="4227371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50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4388" y="3500447"/>
            <a:ext cx="4226719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48100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3492184"/>
            <a:ext cx="423446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8763" y="400050"/>
            <a:ext cx="3512344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4500"/>
              </a:spcAft>
              <a:defRPr sz="645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8229" y="3484564"/>
            <a:ext cx="2068115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25062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492184"/>
            <a:ext cx="393085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8436" y="400050"/>
            <a:ext cx="2074068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0117" y="2457451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038" y="400050"/>
            <a:ext cx="2074068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98720" y="2457451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8436" y="3308287"/>
            <a:ext cx="2074068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0117" y="5365688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77038" y="3308287"/>
            <a:ext cx="2074068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8720" y="5365688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888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5586" y="2459736"/>
            <a:ext cx="2482596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7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5586" y="3497972"/>
            <a:ext cx="2482596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185732" y="2459736"/>
            <a:ext cx="2482596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7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185732" y="3497972"/>
            <a:ext cx="2482596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65699" y="2459736"/>
            <a:ext cx="2482596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7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065699" y="3497972"/>
            <a:ext cx="2482596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523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5586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5586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466468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466468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27350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27350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788232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788232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275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319" y="3495321"/>
            <a:ext cx="2789307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899298" y="1946276"/>
            <a:ext cx="4230290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07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613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8613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66482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2466482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24351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624354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782221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6787685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772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613" y="144239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2466482" y="1433353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8613" y="349473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2466482" y="3495710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625193" y="144239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6786863" y="1433353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25193" y="349473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6783062" y="3495710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272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8585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8825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17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5244" y="1946276"/>
            <a:ext cx="497205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7863" y="4823926"/>
            <a:ext cx="4953244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825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9628354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1824" y="1428750"/>
            <a:ext cx="6390680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24" y="3490335"/>
            <a:ext cx="6390681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85082321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1823" y="1957426"/>
            <a:ext cx="3921978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8436" y="1957425"/>
            <a:ext cx="3511152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932703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0187" y="400051"/>
            <a:ext cx="8540920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0187" y="4410115"/>
            <a:ext cx="4222523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954" y="4410115"/>
            <a:ext cx="3511152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6657242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1714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954787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249" y="1946276"/>
            <a:ext cx="7112201" cy="3992562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n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9580246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51" y="1953896"/>
            <a:ext cx="4954787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296047" y="6497442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49388" y="7056787"/>
            <a:ext cx="20574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1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30" r:id="rId3"/>
    <p:sldLayoutId id="214748373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189" userDrawn="1">
          <p15:clr>
            <a:srgbClr val="F26B43"/>
          </p15:clr>
        </p15:guide>
        <p15:guide id="4" pos="5576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590" userDrawn="1">
          <p15:clr>
            <a:srgbClr val="F26B43"/>
          </p15:clr>
        </p15:guide>
        <p15:guide id="13" pos="644" userDrawn="1">
          <p15:clr>
            <a:srgbClr val="F26B43"/>
          </p15:clr>
        </p15:guide>
        <p15:guide id="14" pos="1043" userDrawn="1">
          <p15:clr>
            <a:srgbClr val="F26B43"/>
          </p15:clr>
        </p15:guide>
        <p15:guide id="15" pos="1096" userDrawn="1">
          <p15:clr>
            <a:srgbClr val="F26B43"/>
          </p15:clr>
        </p15:guide>
        <p15:guide id="16" pos="1496" userDrawn="1">
          <p15:clr>
            <a:srgbClr val="F26B43"/>
          </p15:clr>
        </p15:guide>
        <p15:guide id="17" pos="1550" userDrawn="1">
          <p15:clr>
            <a:srgbClr val="F26B43"/>
          </p15:clr>
        </p15:guide>
        <p15:guide id="18" pos="1950" userDrawn="1">
          <p15:clr>
            <a:srgbClr val="F26B43"/>
          </p15:clr>
        </p15:guide>
        <p15:guide id="19" pos="2003" userDrawn="1">
          <p15:clr>
            <a:srgbClr val="F26B43"/>
          </p15:clr>
        </p15:guide>
        <p15:guide id="20" pos="2403" userDrawn="1">
          <p15:clr>
            <a:srgbClr val="F26B43"/>
          </p15:clr>
        </p15:guide>
        <p15:guide id="21" pos="2456" userDrawn="1">
          <p15:clr>
            <a:srgbClr val="F26B43"/>
          </p15:clr>
        </p15:guide>
        <p15:guide id="22" pos="2855" userDrawn="1">
          <p15:clr>
            <a:srgbClr val="F26B43"/>
          </p15:clr>
        </p15:guide>
        <p15:guide id="23" pos="2909" userDrawn="1">
          <p15:clr>
            <a:srgbClr val="F26B43"/>
          </p15:clr>
        </p15:guide>
        <p15:guide id="24" pos="3309" userDrawn="1">
          <p15:clr>
            <a:srgbClr val="F26B43"/>
          </p15:clr>
        </p15:guide>
        <p15:guide id="25" pos="3762" userDrawn="1">
          <p15:clr>
            <a:srgbClr val="F26B43"/>
          </p15:clr>
        </p15:guide>
        <p15:guide id="26" pos="3363" userDrawn="1">
          <p15:clr>
            <a:srgbClr val="F26B43"/>
          </p15:clr>
        </p15:guide>
        <p15:guide id="27" pos="3816" userDrawn="1">
          <p15:clr>
            <a:srgbClr val="F26B43"/>
          </p15:clr>
        </p15:guide>
        <p15:guide id="28" pos="4216" userDrawn="1">
          <p15:clr>
            <a:srgbClr val="F26B43"/>
          </p15:clr>
        </p15:guide>
        <p15:guide id="29" pos="4270" userDrawn="1">
          <p15:clr>
            <a:srgbClr val="F26B43"/>
          </p15:clr>
        </p15:guide>
        <p15:guide id="30" pos="4668" userDrawn="1">
          <p15:clr>
            <a:srgbClr val="F26B43"/>
          </p15:clr>
        </p15:guide>
        <p15:guide id="31" pos="4723" userDrawn="1">
          <p15:clr>
            <a:srgbClr val="F26B43"/>
          </p15:clr>
        </p15:guide>
        <p15:guide id="32" pos="5121" userDrawn="1">
          <p15:clr>
            <a:srgbClr val="F26B43"/>
          </p15:clr>
        </p15:guide>
        <p15:guide id="33" pos="5175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/>
              <a:t>OFR Issue Tracker - Weekly Risk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64748B"/>
                </a:solidFill>
              </a:rPr>
              <a:t>Week of February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2D2D2D"/>
                </a:solidFill>
              </a:rPr>
              <a:t>As of 2026-02-22, the OFR Issue Tracker has 18 open items across 10 functional groups.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</a:rPr>
              <a:t>•  High Priority: 7 items require immediate attention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</a:rPr>
              <a:t>•  Stale Items: 4 items have not been updated in 15+ days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</a:rPr>
              <a:t>•  Aging Items: 4 items are between 8-14 days since last update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</a:rPr>
              <a:t>•  Average days since update: 9.2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0301E"/>
                </a:solidFill>
              </a:rPr>
              <a:t>⚠  2 item(s) currently escalated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Issue Portfolio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1828800" cy="1371600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3600" b="1">
                <a:solidFill>
                  <a:srgbClr val="FFFFFF"/>
                </a:solidFill>
              </a:rPr>
              <a:t>18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Open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2011680"/>
            <a:ext cx="1828800" cy="1371600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3600" b="1">
                <a:solidFill>
                  <a:srgbClr val="FFFFFF"/>
                </a:solidFill>
              </a:rP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Stale (15+ days)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1828800" cy="1371600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3600" b="1">
                <a:solidFill>
                  <a:srgbClr val="FFFFFF"/>
                </a:solidFill>
              </a:rPr>
              <a:t>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High Priority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2011680"/>
            <a:ext cx="1828800" cy="1371600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3600" b="1">
                <a:solidFill>
                  <a:srgbClr val="FFFFFF"/>
                </a:solidFill>
              </a:rPr>
              <a:t>9.2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Avg Days Since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1828800" cy="914400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749040"/>
            <a:ext cx="1828800" cy="914400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11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49040"/>
            <a:ext cx="1828800" cy="914400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Escalated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749040"/>
            <a:ext cx="1828800" cy="914400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Staleness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914400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600"/>
              </a:spcBef>
            </a:pPr>
            <a:r>
              <a:rPr sz="3200" b="1">
                <a:solidFill>
                  <a:srgbClr val="FFFFFF"/>
                </a:solidFill>
              </a:rPr>
              <a:t>  10</a:t>
            </a:r>
            <a:r>
              <a:rPr sz="1400">
                <a:solidFill>
                  <a:srgbClr val="FFFFFF"/>
                </a:solidFill>
              </a:rPr>
              <a:t>   Current (0-7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657600" cy="914400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600"/>
              </a:spcBef>
            </a:pPr>
            <a:r>
              <a:rPr sz="3200" b="1">
                <a:solidFill>
                  <a:srgbClr val="FFFFFF"/>
                </a:solidFill>
              </a:rPr>
              <a:t>  4</a:t>
            </a:r>
            <a:r>
              <a:rPr sz="1400">
                <a:solidFill>
                  <a:srgbClr val="FFFFFF"/>
                </a:solidFill>
              </a:rPr>
              <a:t>   Aging (8-14 days)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3657600" cy="914400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600"/>
              </a:spcBef>
            </a:pPr>
            <a:r>
              <a:rPr sz="3200" b="1">
                <a:solidFill>
                  <a:srgbClr val="FFFFFF"/>
                </a:solidFill>
              </a:rPr>
              <a:t>  4</a:t>
            </a:r>
            <a:r>
              <a:rPr sz="1400">
                <a:solidFill>
                  <a:srgbClr val="FFFFFF"/>
                </a:solidFill>
              </a:rPr>
              <a:t>   Stale (15+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301E"/>
                </a:solidFill>
              </a:rPr>
              <a:t>Items Requiring Attention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2D2D2D"/>
                </a:solidFill>
              </a:rPr>
              <a:t>OFR-002 - Third-party vendor risk assessment overd  (28d)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</a:rPr>
              <a:t>   Owner: Michael Chen | Engagement Risk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2D2D2D"/>
                </a:solidFill>
              </a:rPr>
              <a:t>OFR-016 - Firm-wide risk register consolidation in  (23d)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</a:rPr>
              <a:t>   Owner: Amanda Clark | Risk Management Office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2D2D2D"/>
                </a:solidFill>
              </a:rPr>
              <a:t>OFR-007 - Internal audit finding remediation delay  (21d)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</a:rPr>
              <a:t>   Owner: Emily Brown | Internal Audit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2D2D2D"/>
                </a:solidFill>
              </a:rPr>
              <a:t>OFR-004 - AI model governance framework gaps  (17d)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</a:rPr>
              <a:t>   Owner: David Park | Technology Risk &amp; AI Trust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E0301E"/>
                </a:solidFill>
              </a:rPr>
              <a:t>High Priority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7 items  |  3 stale  |  2 escalated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E0301E"/>
                </a:solidFill>
              </a:rPr>
              <a:t>High Priority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6459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005840"/>
                <a:gridCol w="1005840"/>
                <a:gridCol w="731520"/>
                <a:gridCol w="457200"/>
                <a:gridCol w="548640"/>
                <a:gridCol w="192024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Next Action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Third-party vendor risk assess...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Michael Chen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EngRisk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Escalated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Escalate to partner review boa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Internal audit finding remedia...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Emily Brown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IntAudit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Escalated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Present remediation plan to au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AI model governance framework 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David Park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TechRisk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Draft framework for committee 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Cybersecurity incident respons...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Thomas Anderson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TechRisk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Incorporate lessons from Q4 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Cross-border data transfer com...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Jane Smith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TechRisk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Review with legal team by Feb 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Contract renewal risk for crit...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Lisa Wong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OGCContract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Negotiate revised SLA terms by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Engagement letter quality cont...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Brian Foster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EngRisk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Implement corrective measures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E45C2B"/>
                </a:solidFill>
              </a:rPr>
              <a:t>Medium Priority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7 items  |  1 stale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E45C2B"/>
                </a:solidFill>
              </a:rPr>
              <a:t>Medium Priority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6459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005840"/>
                <a:gridCol w="1005840"/>
                <a:gridCol w="731520"/>
                <a:gridCol w="457200"/>
                <a:gridCol w="548640"/>
                <a:gridCol w="192024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Next Action</a:t>
                      </a:r>
                    </a:p>
                  </a:txBody>
                  <a:tcPr>
                    <a:solidFill>
                      <a:srgbClr val="E45C2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Firm-wide risk register consol...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Amanda Clark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RMO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Merge regional registers into 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Risk appetite statement annual...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Amanda Clark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Circulate draft to leadership 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Privacy impact assessment back...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Robert Taylor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OGCPrivacy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Clear 5 outstanding PIAs by mo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KYC refresh cycle for high-ris...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Sarah Johnson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ClientRisk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Complete batch 3 of client rev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General counsel advisory on M&amp;...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Patricia Davis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OGCCounsel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Complete legal review of targe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Client onboarding documentatio...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Diana Martinez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ClientRisk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Review and assign to KYC analy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Contract template non-complian...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Lisa Wong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OGCContract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Monitor rollout of updated tem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15385"/>
                </a:solidFill>
              </a:rPr>
              <a:t>Low Priority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4 items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415385"/>
                </a:solidFill>
              </a:rPr>
              <a:t>Low Priority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64592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005840"/>
                <a:gridCol w="1005840"/>
                <a:gridCol w="731520"/>
                <a:gridCol w="457200"/>
                <a:gridCol w="548640"/>
                <a:gridCol w="192024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Next Action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Independence conflict check au...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Kevin Lee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Indep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Evaluate pilot results and rep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Privacy regulation cross-borde...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Robert Taylor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OGCPrivacy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Map regulatory requirements by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National security clearance re...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James Wilson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NatSec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Assign to security team lead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Audit committee reporting form...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Emily Brown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IntAudit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Draft proposed template for 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Risk Management Office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2 open issues  |  1 stale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Risk Management Office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39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Firm-wide risk register consolidation initiat...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Amanda Clark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Risk appetite statement annual refresh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Amanda Clark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Engagement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2 open issues  |  1 stale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Engagement Risk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39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Third-party vendor risk assessment overdue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Michael Chen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Escalated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Engagement letter quality control findings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Brian Foster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Client Risk and KYC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2 open issues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Client Risk and KYC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39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KYC refresh cycle for high-risk clients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Sarah Johnson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Client onboarding documentation gaps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Diana Martinez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Technology Risk &amp; AI Trust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3 open issues  |  1 stale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Technology Risk &amp; AI Trust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AI model governance framework gaps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David Park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Cybersecurity incident response plan update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Thomas Anderson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Cross-border data transfer compliance gap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Jane Smith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OGC Contracts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2 open issues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OGC Contracts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39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Contract template non-compliance with new reg...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Lisa Wong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Contract renewal risk for critical vendor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Lisa Wong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OGC Privacy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2 open issues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OGC Privacy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39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Privacy impact assessment backlog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Robert Taylor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Privacy regulation cross-border impact analys...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Robert Taylor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Internal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2 open issues  |  1 stale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Internal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39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Internal audit finding remediation delay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Emily Brown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Escalated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0301E"/>
                          </a:solidFill>
                        </a:rPr>
                        <a:t>Stale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Audit committee reporting format standardizat...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Emily Brown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National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1 open issue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National Security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National security clearance renewal process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James Wilson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OGC General Counsel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1 open issue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OGC General Counsel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General counsel advisory on M&amp;A due diligence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Patricia Davis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D04A02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Current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Independence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1 open issue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Independence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6809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822960"/>
                <a:gridCol w="914400"/>
                <a:gridCol w="548640"/>
                <a:gridCol w="73152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41538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D2D2D"/>
                          </a:solidFill>
                        </a:rPr>
                        <a:t>OFR-010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Independence conflict check automation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Kevin Lee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415385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E45C2B"/>
                          </a:solidFill>
                        </a:rPr>
                        <a:t>Aging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Issue Detail Slides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18 active issues  ·  one slide per issue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OFR-002  —  Third-party vendor risk assessment overdue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Escalated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Engagement Risk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Michael 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Escalate to partner review board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2026-01-08    ·    Last updated 2026-01-25    ·    28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2026-01-25</a:t>
            </a:r>
            <a:r>
              <a:rPr sz="900" b="1">
                <a:solidFill>
                  <a:srgbClr val="E0301E"/>
                </a:solidFill>
              </a:rPr>
              <a:t>  [Escalated]</a:t>
            </a:r>
            <a:r>
              <a:rPr sz="800">
                <a:solidFill>
                  <a:srgbClr val="64748B"/>
                </a:solidFill>
              </a:rPr>
              <a:t>  — Michael Chen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Escalated to partner level. Vendor has not responded to two assessment requests.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2026-01-15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Michael Chen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Second request sent to vendor. Response deadline set for Jan 22.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2026-01-08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Michael Chen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Annual risk assessment for critical Tier 1 vendor now 30 days overdue.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OFR-007  —  Internal audit finding remediation delay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Escalated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Internal Audit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Emily Brown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Present remediation plan to audit committee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2025-12-20    ·    Last updated 2026-02-01    ·    21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2026-02-01</a:t>
            </a:r>
            <a:r>
              <a:rPr sz="900" b="1">
                <a:solidFill>
                  <a:srgbClr val="E0301E"/>
                </a:solidFill>
              </a:rPr>
              <a:t>  [Escalated]</a:t>
            </a:r>
            <a:r>
              <a:rPr sz="800">
                <a:solidFill>
                  <a:srgbClr val="64748B"/>
                </a:solidFill>
              </a:rPr>
              <a:t>  — Emily Brown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Escalated after second missed remediation deadline. Audit committee briefing requested.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2026-01-15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Emily Brown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Remediation owner confirmed revised timeline. New target: Jan 31.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2025-12-20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Emily Brown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Two high-priority audit findings from Q3 review remain unresolved past 90-day deadline.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OFR-004  —  AI model governance framework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Technology Risk &amp; AI Trust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David 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Draft framework for committee review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2026-01-10    ·    Last updated 2026-02-05    ·    17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2026-02-05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David Park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Draft framework 60% complete. Awaiting input from data science team on model risk classification.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2026-01-20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David Park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Commenced gap analysis against NIST AI RMF. Initial findings documented.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2026-01-10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David Park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Identified gaps in current AI model governance following regulatory guidance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OFR-014  —  Cybersecurity incident response plan update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Technology Risk &amp; AI Trust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Thomas Anderson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Incorporate lessons from Q4 tabletop exercise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2026-01-28    ·    Last updated 2026-02-14    ·    8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2026-02-14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Thomas Anderson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Lessons learned from Q4 tabletop exercise documented. Updating IRP sections 3, 5, and 7.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2026-01-28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Thomas Anderson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Annual review of incident response plan triggered. Q4 tabletop highlighted 4 improvement areas.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OFR-001  —  Cross-border data transfer compliance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Technology Risk &amp; AI Trust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Jane 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Review with legal team by Feb 28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2026-01-15    ·    Last updated 2026-02-18    ·    4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2026-02-18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Jane Smith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Legal review scheduled for Feb 28. EU counsel confirmed scope of GDPR Article 46 analysis.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2026-02-05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Jane Smith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Identified three additional cross-border data flows requiring assessment.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2026-01-15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Jane Smith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Raised following internal audit of EU-US data transfer mechanisms.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OFR-017  —  Contract renewal risk for critical vendor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OGC Contracts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Lisa Wong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Negotiate revised SLA terms by March 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2026-02-12    ·    Last updated 2026-02-20    ·    2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2026-02-20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Lisa Wong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Vendor proposed revised SLA terms received. Under review by procurement and legal.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2026-02-12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Lisa Wong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Critical infrastructure vendor contract expires March 15. Renewal negotiations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OFR-012  —  Engagement letter quality control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Engagement Risk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Brian Foster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Implement corrective measures across teams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2026-02-05    ·    Last updated 2026-02-21    ·    1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2026-02-21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Brian Foster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Root cause analysis complete. 3 corrective actions identified; implementation plan drafted.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2026-02-12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Brian Foster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QC review identified 7 engagement letters with missing or incorrect scope clauses.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2026-02-05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Brian Foster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Quality control review flagged engagement letter deficiencies in two service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OFR-016  —  Firm-wide risk register consolidation initiative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Risk Management Office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Amanda Clark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Merge regional registers into unified view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2026-01-12    ·    Last updated 2026-01-30    ·    23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2026-01-30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Amanda Clark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3 of 5 regional registers mapped to unified taxonomy. APAC and EMEA remain.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2026-01-12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Amanda Clark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Initiative launched to consolidate five separate regional risk registers into one firm-wide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OFR-011  —  Risk appetite statement annual refresh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Risk Management Office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Amanda Clark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Circulate draft to leadership for comment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2026-01-05    ·    Last updated 2026-02-08    ·    14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2026-02-08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Amanda Clark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Draft risk appetite statement updated to reflect new regulatory landscape. Pending leadership review.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2026-01-20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Amanda Clark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Commenced review of current risk appetite thresholds against FY26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OFR-006  —  Privacy impact assessment backlog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OGC Privacy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Robert Taylor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Clear 5 outstanding PIAs by month end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2026-01-22    ·    Last updated 2026-02-10    ·    12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2026-02-10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Robert Taylor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3 of 8 PIAs completed. Prioritising remaining 5 by regulatory deadline.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2026-01-22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Robert Taylor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Backlog of 8 PIAs identified across three business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OFR-003  —  KYC refresh cycle for high-risk clients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Client Risk and KYC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Sarah Johnson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Complete batch 3 of client reviews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2026-01-20    ·    Last updated 2026-02-15    ·    7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2026-02-15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Sarah Johnson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Batch 2 complete (12 clients). Batch 3 of 8 high-risk clients in progress.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2026-01-28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Sarah Johnson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Batch 1 complete. Began batch 2 covering financial services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OFR-009  —  General counsel advisory on M&amp;A due diligence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OGC General Counsel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Patricia Davis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Complete legal review of target entity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2026-02-01    ·    Last updated 2026-02-19    ·    3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2026-02-19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Patricia Davis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Preliminary review of target entity corporate structure complete. IP portfolio assessment underway.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2026-02-01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Patricia Davis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Advisory engagement initiated for potential acquisition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OFR-013  —  Client onboarding documentation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Client Risk and KYC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Diana Martinez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Review and assign to KYC analyst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2026-02-19    ·    Last updated 2026-02-19    ·    3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2026-02-19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Diana Martinez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Identified missing beneficial ownership documentation for 4 recently onboarded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OFR-005  —  Contract template non-compliance with new regulations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OGC Contracts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Lisa Wong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Monitor rollout of updated templates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2025-12-15    ·    Last updated 2026-02-20    ·    2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2026-02-20</a:t>
            </a:r>
            <a:r>
              <a:rPr sz="900" b="1">
                <a:solidFill>
                  <a:srgbClr val="E45C2B"/>
                </a:solidFill>
              </a:rPr>
              <a:t>  [Monitoring]</a:t>
            </a:r>
            <a:r>
              <a:rPr sz="800">
                <a:solidFill>
                  <a:srgbClr val="64748B"/>
                </a:solidFill>
              </a:rPr>
              <a:t>  — Lisa Wong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Updated templates deployed to 8 of 10 practice groups. Remaining 2 scheduled for next week.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2026-02-01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Lisa Wong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Template revisions approved by OGC. Rollout plan finalised.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OFR-010  —  Independence conflict check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E4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Independence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Kevin 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Evaluate pilot results and report findings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2025-11-30    ·    Last updated 2026-02-12    ·    10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2026-02-12</a:t>
            </a:r>
            <a:r>
              <a:rPr sz="900" b="1">
                <a:solidFill>
                  <a:srgbClr val="E45C2B"/>
                </a:solidFill>
              </a:rPr>
              <a:t>  [Monitoring]</a:t>
            </a:r>
            <a:r>
              <a:rPr sz="800">
                <a:solidFill>
                  <a:srgbClr val="64748B"/>
                </a:solidFill>
              </a:rPr>
              <a:t>  — Kevin Lee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Pilot running with 3 engagement teams. Early results show 40% reduction in manual checks.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2026-01-15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Kevin Lee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Automation tool deployed to pilot group. Training completed for 15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OFR-015  —  Privacy regulation cross-border impact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OGC Privacy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Robert Taylor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Map regulatory requirements by jurisdiction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2026-02-10    ·    Last updated 2026-02-17    ·    5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2026-02-17</a:t>
            </a:r>
            <a:r>
              <a:rPr sz="900" b="1">
                <a:solidFill>
                  <a:srgbClr val="D04A02"/>
                </a:solidFill>
              </a:rPr>
              <a:t>  [Active]</a:t>
            </a:r>
            <a:r>
              <a:rPr sz="800">
                <a:solidFill>
                  <a:srgbClr val="64748B"/>
                </a:solidFill>
              </a:rPr>
              <a:t>  — Robert Taylor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Regulatory mapping underway for 6 priority jurisdictions. EU and UK complete.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2026-02-10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Robert Taylor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Initiated analysis of cross-border privacy regulation impacts following new APAC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OFR-008  —  National security clearance renewal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National Security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James Wilson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Assign to security team lead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2026-02-18    ·    Last updated 2026-02-18    ·    4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2026-02-18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James Wilson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Process review initiated for upcoming clearance renewal cycle (12 staff affected).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OFR-018  —  Audit committee reporting format standardization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00584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417320"/>
            <a:ext cx="100584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6896" y="1417320"/>
            <a:ext cx="914400" cy="292608"/>
          </a:xfrm>
          <a:prstGeom prst="roundRect">
            <a:avLst/>
          </a:prstGeom>
          <a:solidFill>
            <a:srgbClr val="41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415385"/>
                </a:solidFill>
              </a:rPr>
              <a:t>Internal Audit</a:t>
            </a:r>
            <a:r>
              <a:rPr sz="1000">
                <a:solidFill>
                  <a:srgbClr val="94A3B8"/>
                </a:solidFill>
              </a:rPr>
              <a:t>    ·    </a:t>
            </a:r>
            <a:r>
              <a:rPr sz="1000">
                <a:solidFill>
                  <a:srgbClr val="2D2D2D"/>
                </a:solidFill>
              </a:rPr>
              <a:t>Emily Brown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Next Action:  </a:t>
            </a:r>
            <a:r>
              <a:rPr sz="1100">
                <a:solidFill>
                  <a:srgbClr val="2D2D2D"/>
                </a:solidFill>
              </a:rPr>
              <a:t>Draft proposed template for committee review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00">
                <a:solidFill>
                  <a:srgbClr val="64748B"/>
                </a:solidFill>
              </a:rPr>
              <a:t>Raised 2026-02-20    ·    Last updated 2026-02-20    ·    2 days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15385"/>
                </a:solidFill>
              </a:rPr>
              <a:t>Update History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2D2D2D"/>
                </a:solidFill>
              </a:rPr>
              <a:t>2026-02-20</a:t>
            </a:r>
            <a:r>
              <a:rPr sz="900" b="1">
                <a:solidFill>
                  <a:srgbClr val="415385"/>
                </a:solidFill>
              </a:rPr>
              <a:t>  [New]</a:t>
            </a:r>
            <a:r>
              <a:rPr sz="800">
                <a:solidFill>
                  <a:srgbClr val="64748B"/>
                </a:solidFill>
              </a:rPr>
              <a:t>  — Emily Brown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Standardisation needed after committee feedback on inconsistent reporting formats across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900" b="1">
                <a:solidFill>
                  <a:srgbClr val="415385"/>
                </a:solidFill>
              </a:rPr>
              <a:t>  🤖  Copilot Executive Brief  </a:t>
            </a:r>
            <a:r>
              <a:rPr sz="800">
                <a:solidFill>
                  <a:srgbClr val="64748B"/>
                </a:solidFill>
              </a:rPr>
              <a:t>This section will be populated by Microsoft Copilot to provide an executive-ready summary of this issue for leadership review.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E0301E"/>
                </a:solidFill>
              </a:rPr>
              <a:t>Items Requiring Attention (4 Stale)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64592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011680"/>
                <a:gridCol w="1097280"/>
                <a:gridCol w="1188720"/>
                <a:gridCol w="54864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Next Action</a:t>
                      </a:r>
                    </a:p>
                  </a:txBody>
                  <a:tcPr>
                    <a:solidFill>
                      <a:srgbClr val="E0301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OFR-002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Third-party vendor risk assessment 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Michael Chen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EngRisk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Escalate to partner review board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OFR-016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Firm-wide risk register consolidati...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Amanda Clark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RMO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Merge regional registers into unified vi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OFR-007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Internal audit finding remediation ...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Emily Brown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IntAudit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Present remediation plan to audit commit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OFR-004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AI model governance framework gaps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David Park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TechRisk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D2D2D"/>
                          </a:solidFill>
                        </a:rPr>
                        <a:t>Draft framework for committee 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/>
              <a:t>One Firm Risk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64748B"/>
                </a:solidFill>
              </a:rPr>
              <a:t>Generated 2026-02-22 10:00  ·  OFR Risk &amp; Quality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WCPRESENTATION" val="true"/>
</p:tagLst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1872AC-BFE7-43BD-9659-3986DC2122BB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536D357CFC0D459EDD9591046E3E0E" ma:contentTypeVersion="16" ma:contentTypeDescription="Create a new document." ma:contentTypeScope="" ma:versionID="d8a35288d785e385e236a60305ce5dce">
  <xsd:schema xmlns:xsd="http://www.w3.org/2001/XMLSchema" xmlns:xs="http://www.w3.org/2001/XMLSchema" xmlns:p="http://schemas.microsoft.com/office/2006/metadata/properties" xmlns:ns3="e5a82f31-c2ae-4d96-85ba-ea2231572c71" xmlns:ns4="6e976282-4df5-457a-a572-ca48e32109e3" targetNamespace="http://schemas.microsoft.com/office/2006/metadata/properties" ma:root="true" ma:fieldsID="0dd7ad38ec117da1c0db7207dd4a9b86" ns3:_="" ns4:_="">
    <xsd:import namespace="e5a82f31-c2ae-4d96-85ba-ea2231572c71"/>
    <xsd:import namespace="6e976282-4df5-457a-a572-ca48e32109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  <xsd:element ref="ns3:MediaServiceSearchProperties" minOccurs="0"/>
                <xsd:element ref="ns3:MediaServiceLocation" minOccurs="0"/>
                <xsd:element ref="ns4:_dlc_DocId" minOccurs="0"/>
                <xsd:element ref="ns4:_dlc_DocIdUrl" minOccurs="0"/>
                <xsd:element ref="ns4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82f31-c2ae-4d96-85ba-ea2231572c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76282-4df5-457a-a572-ca48e32109e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  <xsd:element name="_dlc_DocId" ma:index="24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a82f31-c2ae-4d96-85ba-ea2231572c71" xsi:nil="true"/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AA15423-6585-43F4-9294-E6FFEE2D816B}">
  <ds:schemaRefs>
    <ds:schemaRef ds:uri="6e976282-4df5-457a-a572-ca48e32109e3"/>
    <ds:schemaRef ds:uri="e5a82f31-c2ae-4d96-85ba-ea2231572c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D0973BF-9360-48CF-B75E-DAE75543B1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110A68-AE07-478A-B602-D0C4F92A69D8}">
  <ds:schemaRefs>
    <ds:schemaRef ds:uri="6e976282-4df5-457a-a572-ca48e32109e3"/>
    <ds:schemaRef ds:uri="e5a82f31-c2ae-4d96-85ba-ea2231572c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92672FE4-920B-495A-A6D2-BD37256A815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3D4BA76</Template>
  <TotalTime>0</TotalTime>
  <Words>958</Words>
  <Application>Microsoft Office PowerPoint</Application>
  <PresentationFormat>On-screen Show (4:3)</PresentationFormat>
  <Paragraphs>155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Georgia</vt:lpstr>
      <vt:lpstr>Wingdings</vt:lpstr>
      <vt:lpstr>PwC Slide Master</vt:lpstr>
      <vt:lpstr>Container based AI Solutions   Approved Deployment Patterns</vt:lpstr>
      <vt:lpstr>PowerPoint Presentation</vt:lpstr>
      <vt:lpstr>How to Read These Patterns</vt:lpstr>
      <vt:lpstr>Pattern 1: PwC Internal Hosted (Internal Use Only)</vt:lpstr>
      <vt:lpstr>Pattern 2: PwC Internal Hosted (Restricted Teams, Client Data)</vt:lpstr>
      <vt:lpstr>Pattern 3: PwC Hosted for Client Delivery (No Client Access)</vt:lpstr>
      <vt:lpstr>Pattern 4: PwC Hosted, Client Accessible</vt:lpstr>
      <vt:lpstr>Pattern 5: Client Hosted, PwC App Operated</vt:lpstr>
      <vt:lpstr>Internal to External Transition</vt:lpstr>
      <vt:lpstr>Explicitly Disallowed Patterns</vt:lpstr>
      <vt:lpstr>Core Platform Model - Intent → Engine → Measure A consistent platform, with risk and governance scaling by use case and client profile </vt:lpstr>
      <vt:lpstr>Use Case &amp; Client Profile Scaling</vt:lpstr>
      <vt:lpstr>Key Message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Martin (CA)</dc:creator>
  <cp:keywords/>
  <dc:description>generated using python-pptx</dc:description>
  <cp:lastModifiedBy>David Martin (CA)</cp:lastModifiedBy>
  <cp:revision>6</cp:revision>
  <dcterms:created xsi:type="dcterms:W3CDTF">2026-01-26T14:12:56Z</dcterms:created>
  <dcterms:modified xsi:type="dcterms:W3CDTF">2026-01-29T17:00:28Z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0x010100E6536D357CFC0D459EDD9591046E3E0E</vt:lpwstr>
  </property>
</Properties>
</file>